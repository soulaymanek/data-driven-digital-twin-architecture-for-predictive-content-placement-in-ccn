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28b5eeb0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28b5eeb0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28b5eeb0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28b5eeb0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4852ff5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4852ff5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28b5eeb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28b5eeb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28b5eeb0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28b5eeb0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28b5eeb0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28b5eeb0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4852ff5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4852ff5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28b5eeb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28b5eeb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4852ff53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4852ff53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4852ff53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4852ff53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4852ff53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4852ff53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4852ff53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4852ff53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4afea64c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4afea64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4afea64c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4afea64c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552350"/>
            <a:ext cx="5361300" cy="20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fr" sz="2833">
                <a:latin typeface="Arial"/>
                <a:ea typeface="Arial"/>
                <a:cs typeface="Arial"/>
                <a:sym typeface="Arial"/>
              </a:rPr>
              <a:t>TX - A25</a:t>
            </a:r>
            <a:endParaRPr i="1" sz="283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fr" sz="2833">
                <a:latin typeface="Arial"/>
                <a:ea typeface="Arial"/>
                <a:cs typeface="Arial"/>
                <a:sym typeface="Arial"/>
              </a:rPr>
              <a:t>Implémentation de la Stratégie de Caching CCN assisté par Digital Twin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86400" y="3979050"/>
            <a:ext cx="77712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Zoé POIRIER- Soulaymane KEBLI</a:t>
            </a:r>
            <a:br>
              <a:rPr lang="fr" sz="1200">
                <a:latin typeface="Arial"/>
                <a:ea typeface="Arial"/>
                <a:cs typeface="Arial"/>
                <a:sym typeface="Arial"/>
              </a:rPr>
            </a:br>
            <a:br>
              <a:rPr lang="fr" sz="1200"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latin typeface="Arial"/>
                <a:ea typeface="Arial"/>
                <a:cs typeface="Arial"/>
                <a:sym typeface="Arial"/>
              </a:rPr>
              <a:t>Encadré par Mme. Ghada Jaber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 :</a:t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6" name="Google Shape;136;p14"/>
          <p:cNvSpPr txBox="1"/>
          <p:nvPr>
            <p:ph idx="4294967295" type="ctrTitle"/>
          </p:nvPr>
        </p:nvSpPr>
        <p:spPr>
          <a:xfrm>
            <a:off x="819150" y="1187225"/>
            <a:ext cx="5361300" cy="28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4066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Contexte et Problématique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0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Notre Solution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0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Méthodologie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0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 Noeud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0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Implémentation de notre solution et simulation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0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3"/>
              <a:buFont typeface="Arial"/>
              <a:buChar char="-"/>
            </a:pPr>
            <a:r>
              <a:rPr i="1" lang="fr" sz="21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i="1" sz="21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et état de l’art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915625" y="1221475"/>
            <a:ext cx="7305600" cy="28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Réseau Centré sur le Contenu (CCN)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Contrairement à l'architecture IP classique basée sur l'hôte, le CCN se concentre sur les données nommées, permettant aux routeurs de mettre en cache le contenu localement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L'Internet des Objets (IoT)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croissance exponentielle des appareils IoT génère un trafic massif et dynamique, saturant les architectures traditionnelles.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Digital Twin (DT)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s'agit d'une réplique virtuelle du réseau physique qui collecte des données en temps réel pour effectuer des analyses prédictives et tester des configurations sans perturber la production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Problématique - Les limites du Caching Réactif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915625" y="1221475"/>
            <a:ext cx="7305600" cy="28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L'inefficacité du caching classique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Les stratégies comme LRU (</a:t>
            </a:r>
            <a:r>
              <a:rPr i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Least Recently Used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ou LCE (</a:t>
            </a:r>
            <a:r>
              <a:rPr i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Leave Copy Everywhere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sont réactives : elles stockent les données uniquement après qu'une requête a déjà traversé le réseau, ce qui est inefficace pour les flux massifs.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Contraintes matérielles strictes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Les routeurs IoT sont des appareils à ressources limitées (mémoire et puissance de calcul restreintes), ce qui fait du </a:t>
            </a:r>
            <a:r>
              <a:rPr i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Store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(CS) un goulot d'étranglement critique.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Problèmes identifiés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Délai élevé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Temps de récupération des données trop long pour les applications IoT critiques.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Surcharge inutile du cœur de réseau pour des contenus pourtant populaires.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Manque d'anticipation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Incapacité des réseaux actuels à prédire les pics de demande (contenus viraux)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Solution - Collaboration Cloud-Edge et DT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915625" y="1221475"/>
            <a:ext cx="7305600" cy="28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L'Architecture Hiérarchique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concilier puissance de calcul et faible latence, l'intelligence est divisée en deux couches.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Couche Cloud (DT Centralisé)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Elle maintient une vue globale du réseau, récupère les historiques de données et entraîne des modèles de </a:t>
            </a:r>
            <a:r>
              <a:rPr i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prédire les tendances de popularité mondiales.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Couche Edge (Super Nœuds)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 nœuds d'agrégation stratégiques, élus selon leur centralité réseau, hébergent des agents d'inférence légers pour prendre des décisions locales immédiates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Méthodologie et Algorithme décisionel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915625" y="1221475"/>
            <a:ext cx="7305600" cy="28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Modélisation "Rich Data"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Chaque contenu est traité comme un objet structuré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VideoItem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incluant son ID, sa taille, sa popularité prédite et son gain potentiel en latence (</a:t>
            </a:r>
            <a:r>
              <a:rPr i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 Value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Score de Rentabilité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Notre stratégie utilise une fonction de comparaison pour classer les contenus selon le ratio : Score=(Popularite×Gain​)/Taille.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Heuristique Gloutonne (Greedy)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L'algorithme sélectionne les contenus les plus rentables pour remplir proactivement le cache limité (ex: 10 blocs dans notre simulation), résolvant ainsi le problème du sac à dos sous contrainte de capacité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Election du Super Noeud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919200" y="1058725"/>
            <a:ext cx="7305600" cy="3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Le Concept de Super Nœud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Hiérarchique et Décentralisée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 lieu d'équiper chaque petit routeur d'une intelligence coûteuse, le réseau est divisé en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 (Zones)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 d'Agrégation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Chaque zone est gérée par un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 Nœud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(nœud d'agrégation) qui centralise les requêtes de ses utilisateurs locaux (structure en étoile).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IA Edge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Seul le Super Nœud héberge un agent d'inférence léger capable d'appliquer les décisions du Digital Twin en temps réel.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Les Critères de Sélection (L'Élection)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Centralité de Degré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choisit les nœuds qui possèdent le plus grand nombre de voisins directs, ce qui en fait des points de collecte naturels pour le trafic.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Centralité d'Intermédiarité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privilégie les nœuds qui se trouvent sur les chemins les plus courts entre les différents points du réseau, assurant qu'ils voient passer un maximum de flux.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Global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score combinant ces deux centralités permet d'élire le nœud le plus stratégique pour maximiser l'efficacité du cache.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Rôle du Digital Twin (Phase d'Initialisation)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 Déporté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calcul des centralités est une tâche complexe effectuée par le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Twin dans le Cloud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lors de la phase d'initialisation, car les nœuds IoT n'ont pas la puissance nécessaire pour de telles analyses topologiques.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Positionnement Stratégique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résultat de cette élection permet de positionner le Super Nœud idéalement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 centre de ses clients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minimiser la latence de récupération des contenus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19150" y="366075"/>
            <a:ext cx="75057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Election du Super Noeud</a:t>
            </a:r>
            <a:endParaRPr/>
          </a:p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Structure du Schéma :&#10;1. Dessinez 3 Clusters (Cercles en pointillés) :&#10;﻿﻿Imaginez trois zones : &quot;Zone 1&quot;, &quot;Zone 2&quot;, &quot;Zone 3&quot;.&#10;﻿﻿Dans chaque zone, dessinez quelques petits ronds (utilisateurs/petits nœuds).&#10;2. Les Super Nœuds (Au centre des clusters) :&#10;﻿﻿Dans chaque zone, mettez un gros rond distinctif : le Noeud d'Agrégation (Super Node).&#10;﻿﻿Mettez le petit logo &quot;Agent IA&quot; sur ces Super Nœuds uniquement.&#10;﻿﻿Reliez les petits nœuds à leur Super Noeud respectif (structure en étoile).&#10;3. Le Coeur de Réseau (Core) :&#10;• Reliez les 3 Super Nœuds entre eux ou vers un routeur central.&#10;4. Le Digital Twin (Cloud) :&#10;﻿﻿Le Nuage au-dessus de tout ça.&#10;﻿﻿Des flèches qui partent uniquement des Super Nœuds vers le Nuage (Collaboration Cloud-Super Node).&#10;5. L'Exemple Visuel (La flèche de traversée) :&#10;﻿﻿Dessinez une flèche rouge &quot;Requête Alice&quot; partant de la Zone 1.&#10;﻿﻿Faites-la s'arrêter net sur le Super Nœud de la Zone 1 avec une icône &quot;Check Vert / Cache Hit&quot;.&#10;﻿﻿Mettez une croix rouge sur le chemin qui va vers le Cœur pour montrer : &quot;Trafic évité&quot;.&#10;Légende à ajouter :&#10;﻿﻿Super Node / Agent IA: Point de décision local optimisé par l'algorithme Greedy.&#10;﻿﻿Cluster : Zone gérée par un Super Node.&#10;﻿﻿Green Check: Cache Hit prédictif (grâce à l'algo)." id="178" name="Google Shape;178;p20"/>
          <p:cNvPicPr preferRelativeResize="0"/>
          <p:nvPr/>
        </p:nvPicPr>
        <p:blipFill rotWithShape="1">
          <a:blip r:embed="rId3">
            <a:alphaModFix/>
          </a:blip>
          <a:srcRect b="240" l="0" r="0" t="-240"/>
          <a:stretch/>
        </p:blipFill>
        <p:spPr>
          <a:xfrm>
            <a:off x="1055400" y="1023274"/>
            <a:ext cx="7033212" cy="344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819150" y="4035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Phase 0 : Modélisation des données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5130575" y="1221463"/>
            <a:ext cx="3543300" cy="28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VideoItem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DT ne voit pas des paquets, mais des objets riches (ID, Taille, Popularité, Hit Value).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Fonction de comparaison 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fr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compareVideos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: calcule la Rentabilité : cela permet de privilégier les petits fichiers très demandés plutôt que les gros fichiers peu regardés.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Logique de Rentabilité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Score=(Popularité × Gain)/Taille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Pourquoi ?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Privilégier les contenus légers et très demandés pour maximiser l'utilité du cache restreint. </a:t>
            </a:r>
            <a:endParaRPr/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50" y="1221488"/>
            <a:ext cx="4476750" cy="28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19150" y="496600"/>
            <a:ext cx="75057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Etape 1 : Topologie et Contraintes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5014100" y="1244800"/>
            <a:ext cx="3664500" cy="32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Environnement ndnSIM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Consommateurs (Clients).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Super Nœud (Routeur intelligent).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Producteur (Serveur source).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Super Nœud est positionné stratégiquement au centre des clients pour maximiser l'efficacité du cache. 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(topologie en étoile)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Installation de la "Pile NDN" (le logiciel réseau) sur tous le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nœuds et réglé les câbles (10Mbps, 10ms de délai).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Contrainte Système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Cache limité à 10 blocs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setCsSize(10)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défi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Nos vidéos font entre 2 et 8 blocs ; l'optimisation est donc vitale. </a:t>
            </a:r>
            <a:endParaRPr/>
          </a:p>
        </p:txBody>
      </p:sp>
      <p:sp>
        <p:nvSpPr>
          <p:cNvPr id="193" name="Google Shape;19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Un schéma en étoile simple. Trois icônes &quot;Clients&quot; reliées à un gros &quot;Super Nœud&quot;, lui-même relié à un &quot;Serveur distant&quot;. Sur le Super Nœud, affichez une jauge de remplissage limitée à 10 unités."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95050"/>
            <a:ext cx="4021300" cy="33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819150" y="473325"/>
            <a:ext cx="75057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Étape 2 : </a:t>
            </a:r>
            <a:r>
              <a:rPr lang="fr"/>
              <a:t>L'Algorithme Glouton du DT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4455650" y="1114975"/>
            <a:ext cx="4153200" cy="3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"Réflexion" du Jumeau Numérique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L'algorithme s'exécute en C++ pur avant tout mouvement de paquet sur le réseau.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simule l'avenir en utilisant un catalogue de données prédictives (Popularité p​ et Taille).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Cœur de la Stratégie : L'Heuristique Gloutonne (Greedy)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Classement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Tri du catalogue par score de rentabilité pour maximiser l'utilité de chaque bloc mémoire.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Sélection itérative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remplit le cache virtuel (capacité stricte de 10 blocs) en privilégiant les contenus à fort impact.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 l'espace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Soustraction dynamique de la taille des vidéos admises jusqu'à saturation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capacite_actuelle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 : Le Manifeste de Décision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Génération de la liste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videos_a_cacher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(ex: Vidéos 1, 3 et 4 sélectionnées ; Vidéos 2 et 5 rejetées).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Cette liste constitue la "Feuille de Route" que le réseau physique devra suivre.</a:t>
            </a:r>
            <a:endParaRPr/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un pipeline de traitement de données divisé en quatre blocs horizontaux ou verticaux, montrant la transformation de la donnée brute en décision stratégique :&#10;&#10;Bloc 1 : Catalogue Virtuel (Entrée)&#10;&#10;Visuel : Une pile de fiches (objets VideoItem) désordonnées.&#10;&#10;Détail : Chaque fiche affiche des icônes pour la popularité (🔥), la taille (💾) et la valeur de gain (💎).&#10;&#10;Bloc 2 : Scoring &amp; Ranking (Traitement)&#10;&#10;Visuel : Une icône de calculatrice ou d'engrenage.&#10;&#10;Action : Une flèche sortante vers une liste désormais triée.&#10;&#10;Légende : Application de la fonction compareVideos pour classer les contenus par Rentabilité (Score= &#10;Taille&#10;p×Gain&#10;​ &#10; ).&#10;&#10;Bloc 3 : Sélecteur Glouton (Heuristique)&#10;&#10;Visuel : Un schéma itératif. On voit une main (l'algorithme) qui pioche dans la liste triée et tente de remplir un bac transparent (le Cache Virtuel).&#10;&#10;Détail :&#10;&#10;Vidéo acceptée ✅ (si elle rentre dans les 10 blocs restants).&#10;&#10;Vidéo rejetée ❌ (si elle provoque un dépassement de capacité / Overflow).&#10;&#10;Bloc 4 : Manifeste de Caching (Sortie)&#10;&#10;Visuel : Une liste finale courte et brillante intitulée videos_a_cacher.&#10;&#10;Note importante : Ajoutez une mention en rouge ou en gras : &quot;État du réseau physique : Inchangé&quot;."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50" y="1187850"/>
            <a:ext cx="3710175" cy="35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819150" y="368625"/>
            <a:ext cx="75057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Étape 3 : </a:t>
            </a:r>
            <a:r>
              <a:rPr lang="fr"/>
              <a:t>Application de la Stratégie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4816350" y="1140100"/>
            <a:ext cx="3768300" cy="3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Mécanisme de Synchronisation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Digital Twin traduit sa décision algorithmique en actions réseau réelles via le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Pre-fetching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(pré-chargement)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Exécution (T = 0.1s)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Lancement automatique de requêtes via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ndn::ConsumerCbr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les vidéos sélectionnées par l'algorithme glouton.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Logique "Push"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Nous "poussons" le contenu rentable dans le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Store (CS) 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avant l'arrivée des utilisateurs.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Optimisation immédiate : le cache de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blocs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 utilisé à 100% pour les contenus à haut score de rentabilité.</a:t>
            </a:r>
            <a:endParaRPr/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Structure Centrale (Étoile) :&#10;&#10;Au centre, dessinez un gros Super Nœud (Nœud A).&#10;&#10;Autour, placez 3 Clients reliés au Super Nœud par des traits simples (structure en étoile).&#10;&#10;Reliez le Super Nœud à un Serveur (Producer) distant.&#10;&#10;Intelligence (Plan supérieur) :&#10;&#10;Un nuage Digital Twin (Cloud) surplombe l'étoile.&#10;&#10;Une flèche descendante va du Cloud vers l'Agent IA situé sur le Super Nœud avec l'étiquette : &quot;Liste videos_a_cacher&quot;.&#10;&#10;Action de Pre-fetching (Requêtes) :&#10;&#10;Dessinez des flèches bleues partant du Super Nœud vers le Serveur.&#10;&#10;Annotation : &quot;T = 0.1s : Requêtes générées par les Agents Artificiels&quot;.&#10;&#10;Résultat (Stockage) :&#10;&#10;Une icône de disque dur/cache sur le Super Nœud devient verte et se remplit.&#10;&#10;Annotation : &quot;Remplissage proactif du Content Store (CS)&quot;"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25" y="1140125"/>
            <a:ext cx="3768375" cy="34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443250" y="334925"/>
            <a:ext cx="82575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Étape 4: </a:t>
            </a:r>
            <a:r>
              <a:rPr lang="fr"/>
              <a:t>Simulation du Trafic Réel (Le "Hit" Prédictif)</a:t>
            </a:r>
            <a:endParaRPr/>
          </a:p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4336925" y="1321338"/>
            <a:ext cx="43650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/>
              <a:t>Scénario A : Le Succès Prédictif (Alice à T = 2.0s)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Action :</a:t>
            </a:r>
            <a:r>
              <a:rPr lang="fr" sz="1100"/>
              <a:t> Demande de la </a:t>
            </a:r>
            <a:r>
              <a:rPr b="1" lang="fr" sz="1100"/>
              <a:t>Vidéo 1</a:t>
            </a:r>
            <a:r>
              <a:rPr lang="fr" sz="1100"/>
              <a:t>, jugée "Prioritaire" par l'algorithme glouton.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Résultat :</a:t>
            </a:r>
            <a:r>
              <a:rPr lang="fr" sz="1100"/>
              <a:t> </a:t>
            </a:r>
            <a:r>
              <a:rPr b="1" lang="fr" sz="1100"/>
              <a:t>Cache Hit</a:t>
            </a:r>
            <a:r>
              <a:rPr lang="fr" sz="1100"/>
              <a:t> immédiat sur le Super Nœud.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Impact :</a:t>
            </a:r>
            <a:r>
              <a:rPr lang="fr" sz="1100"/>
              <a:t> Service ultra-rapide et aucun trafic généré vers le cœur de réseau</a:t>
            </a:r>
            <a:r>
              <a:rPr lang="fr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Scénario B : L'Échec Contrôlé (Bob à T = 3.0s)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Action :</a:t>
            </a:r>
            <a:r>
              <a:rPr lang="fr" sz="1100"/>
              <a:t> Demande de la </a:t>
            </a:r>
            <a:r>
              <a:rPr b="1" lang="fr" sz="1100"/>
              <a:t>Vidéo 2</a:t>
            </a:r>
            <a:r>
              <a:rPr lang="fr" sz="1100"/>
              <a:t>, jugée "Trop volumineuse / Peu rentable" par le DT.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Résultat :</a:t>
            </a:r>
            <a:r>
              <a:rPr lang="fr" sz="1100"/>
              <a:t> </a:t>
            </a:r>
            <a:r>
              <a:rPr b="1" lang="fr" sz="1100"/>
              <a:t>Cache Miss</a:t>
            </a:r>
            <a:r>
              <a:rPr lang="fr" sz="1100"/>
              <a:t>. La requête est transmise au serveur distant.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Impact :</a:t>
            </a:r>
            <a:r>
              <a:rPr lang="fr" sz="1100"/>
              <a:t> Latence plus élevée, mais le cache reste préservé pour les futurs utilisateurs de contenus plus rentables.</a:t>
            </a:r>
            <a:endParaRPr b="1" sz="1100"/>
          </a:p>
        </p:txBody>
      </p:sp>
      <p:pic>
        <p:nvPicPr>
          <p:cNvPr descr="Même Topologie Étoile : Gardez le même schéma que la slide précédente.&#10;&#10;Scénario Alice (T = 2.0s) :&#10;&#10;Une flèche rouge épaisse part d'un des Clients vers le Super Nœud : &quot;Requête Vidéo 1&quot;.&#10;&#10;Visuel : La flèche s'arrête au Super Nœud. Affichez une icône &quot;CHECK VERT / CACHE HIT&quot;.&#10;&#10;Une flèche de retour immédiate va du Super Nœud vers le Client.&#10;&#10;Économie Réseau :&#10;&#10;Mettez une croix rouge sur le lien entre le Super Nœud et le Serveur distant : &quot;Zéro trafic vers le cœur de réseau&quot;.&#10;&#10;Scénario Bob (T = 3.0s - Optionnel) :&#10;&#10;Une flèche pour une vidéo non-cachée traverse tout le réseau jusqu'au serveur (Cache Miss contrôlé)."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75" y="1036613"/>
            <a:ext cx="3848349" cy="37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443250" y="334925"/>
            <a:ext cx="4652400" cy="11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Étape 4: Simulation du Trafic Réel (Le "Hit" Prédictif)</a:t>
            </a:r>
            <a:endParaRPr/>
          </a:p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586950" y="1834113"/>
            <a:ext cx="43650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/>
              <a:t>Bilan Technique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La simulation confirme que le Super Nœud n'est plus un simple routeur passif : il devient un point de décision </a:t>
            </a:r>
            <a:r>
              <a:rPr b="1" lang="fr" sz="1100"/>
              <a:t>sélectif</a:t>
            </a:r>
            <a:r>
              <a:rPr lang="fr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On valide l'efficacité du </a:t>
            </a:r>
            <a:r>
              <a:rPr b="1" lang="fr" sz="1100"/>
              <a:t>Score de Rentabilité</a:t>
            </a:r>
            <a:r>
              <a:rPr lang="fr" sz="1100"/>
              <a:t> : on accepte une latence plus forte pour Bob afin de garantir un service parfait à une majorité d'utilisateurs (Alice et les autres).</a:t>
            </a:r>
            <a:endParaRPr b="1" sz="1100"/>
          </a:p>
        </p:txBody>
      </p:sp>
      <p:pic>
        <p:nvPicPr>
          <p:cNvPr id="226" name="Google Shape;2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176" y="334925"/>
            <a:ext cx="3372625" cy="44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ctrTitle"/>
          </p:nvPr>
        </p:nvSpPr>
        <p:spPr>
          <a:xfrm>
            <a:off x="1540925" y="2005350"/>
            <a:ext cx="6164100" cy="11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fr" sz="2833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32" name="Google Shape;232;p27"/>
          <p:cNvSpPr txBox="1"/>
          <p:nvPr>
            <p:ph idx="1" type="subTitle"/>
          </p:nvPr>
        </p:nvSpPr>
        <p:spPr>
          <a:xfrm>
            <a:off x="737375" y="3958150"/>
            <a:ext cx="77712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Zoé POIRIER- Soulaymane KEBLI</a:t>
            </a:r>
            <a:br>
              <a:rPr lang="fr" sz="1200">
                <a:latin typeface="Arial"/>
                <a:ea typeface="Arial"/>
                <a:cs typeface="Arial"/>
                <a:sym typeface="Arial"/>
              </a:rPr>
            </a:br>
            <a:br>
              <a:rPr lang="fr" sz="1200"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latin typeface="Arial"/>
                <a:ea typeface="Arial"/>
                <a:cs typeface="Arial"/>
                <a:sym typeface="Arial"/>
              </a:rPr>
              <a:t>Encadré par Mme. Ghada Jaber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